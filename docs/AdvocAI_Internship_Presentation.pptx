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5333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ollama.com/" TargetMode="External"/><Relationship Id="rId3" Type="http://schemas.openxmlformats.org/officeDocument/2006/relationships/hyperlink" Target="https://www.kaggle.com/learn/google-ai-intensive" TargetMode="External"/><Relationship Id="rId7" Type="http://schemas.openxmlformats.org/officeDocument/2006/relationships/hyperlink" Target="https://www.healthcare.gov/coverage/preventive-care-benefits/" TargetMode="External"/><Relationship Id="rId12" Type="http://schemas.openxmlformats.org/officeDocument/2006/relationships/hyperlink" Target="https://github.com/Viraj281105/Advocai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dol.gov/general/topic/health-plans/erisa" TargetMode="External"/><Relationship Id="rId11" Type="http://schemas.openxmlformats.org/officeDocument/2006/relationships/hyperlink" Target="https://github.com/madmaze/pytesseract" TargetMode="External"/><Relationship Id="rId5" Type="http://schemas.openxmlformats.org/officeDocument/2006/relationships/hyperlink" Target="https://www.ncbi.nlm.nih.gov/home/develop/api/" TargetMode="External"/><Relationship Id="rId10" Type="http://schemas.openxmlformats.org/officeDocument/2006/relationships/hyperlink" Target="https://github.com/jsvine/pdfplumber" TargetMode="External"/><Relationship Id="rId4" Type="http://schemas.openxmlformats.org/officeDocument/2006/relationships/hyperlink" Target="https://deepmind.google/technologies/gemini/" TargetMode="External"/><Relationship Id="rId9" Type="http://schemas.openxmlformats.org/officeDocument/2006/relationships/hyperlink" Target="https://fastapi.tiangolo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548640"/>
            <a:ext cx="219456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486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INTERNSHIP PROJECT REVIEW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AdvocAI</a:t>
            </a:r>
            <a:endParaRPr 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41148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03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Autonomous Health Insurance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Appeal System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29443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C5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Production-Ready Multi-Agent Framework for Medical,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A8C5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Regulatory &amp; Legal Reasoning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8229600" cy="45720"/>
          </a:xfrm>
          <a:prstGeom prst="rect">
            <a:avLst/>
          </a:prstGeom>
          <a:solidFill>
            <a:srgbClr val="1D3A5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Viraj Jadhao &amp; Team    |    Multi-Agent AI  •  Python  •  Gemini 2.5 Flash  •  PubMed API    |    Kaggle Agents Intensive Capstone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8580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is AdvocAI?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9262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AdvocAI — Autonomous Health Insurance Appeal System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0" y="49926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41148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About the Project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15087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AdvocAI</a:t>
            </a:r>
            <a:r>
              <a:rPr lang="en-US" sz="12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is a fully autonomous, end-to-end multi-agent AI system designed to help patients fight wrongfully denied health insurance claims.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" y="237744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as a Kaggle Agents Intensive Capstone project ('Agents for Good')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Combines OCR, medical evidence search, legal reasoning &amp; AI writing into one pipeline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Targets a real-world gap: 67% of denied claims are NEVER appealed, yet 45% of appealed claims are overturned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Engineered for modular, fault-tolerant, production-grade deployment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42062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05840"/>
            <a:ext cx="420624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Context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00600" y="1508760"/>
            <a:ext cx="3840480" cy="822960"/>
          </a:xfrm>
          <a:prstGeom prst="rect">
            <a:avLst/>
          </a:prstGeom>
          <a:solidFill>
            <a:srgbClr val="F4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508760"/>
            <a:ext cx="64008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554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67%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8348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Denied claims never appealed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00600" y="2514600"/>
            <a:ext cx="3840480" cy="822960"/>
          </a:xfrm>
          <a:prstGeom prst="rect">
            <a:avLst/>
          </a:prstGeom>
          <a:solidFill>
            <a:srgbClr val="F4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2514600"/>
            <a:ext cx="64008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560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45%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98348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Appeals that are overturned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00600" y="3520440"/>
            <a:ext cx="3840480" cy="822960"/>
          </a:xfrm>
          <a:prstGeom prst="rect">
            <a:avLst/>
          </a:prstGeom>
          <a:solidFill>
            <a:srgbClr val="F4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3520440"/>
            <a:ext cx="64008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566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983480" y="3977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Specialized AI agents in pipeline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37033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Statement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Gap in the Insurance Appeal Ecosystem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9262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AdvocAI — Autonomous Health Insurance Appeal System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0" y="49926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024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year, millions of valid medical insurance claims are denied — and most patients give up.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74320" y="1691640"/>
            <a:ext cx="201168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7830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" y="2423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Poor Documentation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65760" y="283464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Patients lack the knowledge to properly document and present their medical necessity.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2441448" y="1691640"/>
            <a:ext cx="201168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2968" y="17830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532888" y="2423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Clinical Evidence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2532888" y="283464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Most people cannot locate peer-reviewed medical evidence to support their case.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608576" y="1691640"/>
            <a:ext cx="201168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0096" y="178308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00016" y="2423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Legal Complexity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4700016" y="283464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ACA, ERISA, and state statutes create an impenetrable web of legal requirements.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6775704" y="1691640"/>
            <a:ext cx="201168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7224" y="1783080"/>
            <a:ext cx="548640" cy="5486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67144" y="2423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Cost Barrier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6867144" y="283464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Hiring medical/legal professionals to draft appeals is prohibitively expensive.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0"/>
          <p:cNvSpPr/>
          <p:nvPr/>
        </p:nvSpPr>
        <p:spPr>
          <a:xfrm>
            <a:off x="274320" y="4572000"/>
            <a:ext cx="8595360" cy="338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365760" y="4572000"/>
            <a:ext cx="8412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Result: Patients lose appeals not because they aren't right — but because they can't navigate the complexity. AdvocAI solves this.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Scope of the Project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AdvocAI Does — and Does Not Do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9262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AdvocAI — Autonomous Health Insurance Appeal System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0" y="49926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41148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✔  IN SCOPE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150876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OCR-based parsing of denial &amp; policy PDF documents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ICD/CPT code extraction &amp; denial reason structuring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PubMed evidence retrieval for medical justification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Legal statute matching (ACA §2713, ERISA, state laws)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Professional appellate letter generation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AI-based quality validation &amp; scoring of the appeal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Output: PDF + JSON + evidence bundle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Hybrid LLM routing (Gemini 2.5 Flash + Ollama fallback)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Fault-tolerant pipeline with session checkpointing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2062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4206240" cy="3657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✗  OUT OF SCOPE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00600" y="150876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2E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Filing the appeal directly on patient's behalf (not a legal service)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2E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Guaranteeing claim approval (outcome depends on insurer)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2E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insurer portal integration (future roadmap)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2E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Multi-user / multi-tenant SaaS (planned v2)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2E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Non-US insurance frameworks (international regulations)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B2E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PHI storage beyond session (privacy-by-design)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Objectives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AdvocAI Sets Out to Achieve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9262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AdvocAI — Autonomous Health Insurance Appeal System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0" y="49926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28600" y="1005840"/>
            <a:ext cx="2834640" cy="1801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05840"/>
            <a:ext cx="283464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15568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14600" y="1097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95528" y="1097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Automate the Full Appeal Workflow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20040" y="1572768"/>
            <a:ext cx="2651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Eliminate manual effort from denial parsing to final appeal letter — zero human intervention required in the core pipeline.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200400" y="1005840"/>
            <a:ext cx="2834640" cy="1801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0" y="1005840"/>
            <a:ext cx="283464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115568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86400" y="1097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3767328" y="1097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Ground Appeals in Medical Evidence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3291840" y="1572768"/>
            <a:ext cx="2651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Integrate PubMed API to retrieve peer-reviewed clinical literature supporting treatment medical necessity.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6172200" y="1005840"/>
            <a:ext cx="2834640" cy="1801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72200" y="1005840"/>
            <a:ext cx="283464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115568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58200" y="1097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6739128" y="1097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Ensure Legal Compliance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6263640" y="1572768"/>
            <a:ext cx="2651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Identify and cite applicable regulations (ACA, ERISA, state statutes) to build legally defensible arguments.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228600" y="2944368"/>
            <a:ext cx="2834640" cy="1801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228600" y="2944368"/>
            <a:ext cx="283464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054096"/>
            <a:ext cx="411480" cy="4114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2514600" y="3035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795528" y="303580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Validate Output Quality via AI Judge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320040" y="3511296"/>
            <a:ext cx="2651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a dedicated Judge Agent to score clinical alignment, legal compliance, structure integrity and detect hallucinations.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3200400" y="2944368"/>
            <a:ext cx="2834640" cy="1801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200400" y="2944368"/>
            <a:ext cx="283464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054096"/>
            <a:ext cx="411480" cy="41148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486400" y="3035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0"/>
          <p:cNvSpPr/>
          <p:nvPr/>
        </p:nvSpPr>
        <p:spPr>
          <a:xfrm>
            <a:off x="3767328" y="303580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a Fault-Tolerant Production System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1"/>
          <p:cNvSpPr/>
          <p:nvPr/>
        </p:nvSpPr>
        <p:spPr>
          <a:xfrm>
            <a:off x="3291840" y="3511296"/>
            <a:ext cx="2651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 checkpoint/resume logic, hybrid LLM fallback, and modular design for real-world reliability.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2"/>
          <p:cNvSpPr/>
          <p:nvPr/>
        </p:nvSpPr>
        <p:spPr>
          <a:xfrm>
            <a:off x="6172200" y="2944368"/>
            <a:ext cx="2834640" cy="1801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172200" y="2944368"/>
            <a:ext cx="283464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054096"/>
            <a:ext cx="411480" cy="4114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458200" y="3035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06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6739128" y="303580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Democratise Access to Appeal Rights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36"/>
          <p:cNvSpPr/>
          <p:nvPr/>
        </p:nvSpPr>
        <p:spPr>
          <a:xfrm>
            <a:off x="6263640" y="3511296"/>
            <a:ext cx="2651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Give ordinary patients the same quality of appeal documentation that typically requires expensive legal counsel.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Architecture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Multi-Agent Orchestration Framework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9262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AdvocAI — Autonomous Health Insurance Appeal System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0" y="49926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06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1463040" cy="201168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88720"/>
            <a:ext cx="14630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53312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18653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Auditor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65760" y="2377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BFD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OCR · Parsing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8FBFD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ICD/CPT Extraction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783080" y="2130552"/>
            <a:ext cx="237744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965960" y="2002536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▶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020824" y="1188720"/>
            <a:ext cx="1463040" cy="2011680"/>
          </a:xfrm>
          <a:prstGeom prst="rect">
            <a:avLst/>
          </a:prstGeom>
          <a:solidFill>
            <a:srgbClr val="112240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020824" y="1188720"/>
            <a:ext cx="146304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3744" y="1353312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066544" y="18653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Clinician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2066544" y="2377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BFD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PubMed Search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8FBFD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Evidence Retrieval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3483864" y="2130552"/>
            <a:ext cx="237744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66744" y="2002536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▶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3721608" y="1188720"/>
            <a:ext cx="1463040" cy="201168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721608" y="1188720"/>
            <a:ext cx="14630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1353312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767328" y="18653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Regulatory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3767328" y="2377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BFD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ACA · ERISA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8FBFD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Statute Matching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5184648" y="2130552"/>
            <a:ext cx="237744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367528" y="2002536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▶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5"/>
          <p:cNvSpPr/>
          <p:nvPr/>
        </p:nvSpPr>
        <p:spPr>
          <a:xfrm>
            <a:off x="5422392" y="1188720"/>
            <a:ext cx="1463040" cy="2011680"/>
          </a:xfrm>
          <a:prstGeom prst="rect">
            <a:avLst/>
          </a:prstGeom>
          <a:solidFill>
            <a:srgbClr val="112240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5422392" y="1188720"/>
            <a:ext cx="146304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312" y="1353312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468112" y="18653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Barrister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8"/>
          <p:cNvSpPr/>
          <p:nvPr/>
        </p:nvSpPr>
        <p:spPr>
          <a:xfrm>
            <a:off x="5468112" y="2377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BFD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Appeal Letter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8FBFD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Drafting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29"/>
          <p:cNvSpPr/>
          <p:nvPr/>
        </p:nvSpPr>
        <p:spPr>
          <a:xfrm>
            <a:off x="6885432" y="2130552"/>
            <a:ext cx="237744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7068312" y="2002536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▶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1"/>
          <p:cNvSpPr/>
          <p:nvPr/>
        </p:nvSpPr>
        <p:spPr>
          <a:xfrm>
            <a:off x="7123176" y="1188720"/>
            <a:ext cx="1463040" cy="201168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123176" y="1188720"/>
            <a:ext cx="14630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6096" y="1353312"/>
            <a:ext cx="457200" cy="45720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168896" y="18653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Judge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4"/>
          <p:cNvSpPr/>
          <p:nvPr/>
        </p:nvSpPr>
        <p:spPr>
          <a:xfrm>
            <a:off x="7168896" y="2377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BFD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QA · Validation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8FBFD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Scoring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5"/>
          <p:cNvSpPr/>
          <p:nvPr/>
        </p:nvSpPr>
        <p:spPr>
          <a:xfrm>
            <a:off x="320040" y="3383280"/>
            <a:ext cx="8503920" cy="502920"/>
          </a:xfrm>
          <a:prstGeom prst="rect">
            <a:avLst/>
          </a:prstGeom>
          <a:solidFill>
            <a:srgbClr val="0A204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3447288"/>
            <a:ext cx="347472" cy="34747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68680" y="33832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Pipeline Orchestrator  —  Retry Logic · Checkpoint/Resume · Session Tracking · Hybrid LLM Routing  (Gemini 2.5 Flash → Ollama Llama 3.2)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320040" y="4023360"/>
            <a:ext cx="393192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334D6E"/>
            </a:solidFill>
            <a:prstDash val="solid"/>
          </a:ln>
        </p:spPr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4114800"/>
            <a:ext cx="320040" cy="32004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822960" y="404164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FD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Inputs: Denial PDF + Policy PDF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8FBFD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Storage: JSON Filesystem / PostgreSQL (optional)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39"/>
          <p:cNvSpPr/>
          <p:nvPr/>
        </p:nvSpPr>
        <p:spPr>
          <a:xfrm>
            <a:off x="4892040" y="4023360"/>
            <a:ext cx="393192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334D6E"/>
            </a:solidFill>
            <a:prstDash val="solid"/>
          </a:ln>
        </p:spPr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4114800"/>
            <a:ext cx="320040" cy="32004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5394960" y="404164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FD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Outputs: Appeal Letter PDF + JSON Bundle + Evidence Dossier + QA Scorecard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Methodology &amp; Algorithm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the 5-Agent Pipeline Works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9262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AdvocAI — Autonomous Health Insurance Appeal System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0" y="49926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07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05840"/>
            <a:ext cx="6400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1188720"/>
            <a:ext cx="2743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1060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Auditor Agent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1335024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OCR Preprocessing → Text Block Segmentation → ICD/CPT Regex Extraction → Policy Clause Detection → Relevance Ranking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1764792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764792"/>
            <a:ext cx="64008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" y="1947672"/>
            <a:ext cx="27432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1947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Clinician Agent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2093976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LLM Query Generation → PubMed API AFC Tool Call → Abstract Parsing → PMI/DOI Verification → Evidence Structuring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4320" y="2523744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523744"/>
            <a:ext cx="6400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" y="2706624"/>
            <a:ext cx="2743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2706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2960" y="2578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Regulatory Agent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2960" y="2852928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Legal Rule Matching Engine → Policy-Language Conflict Detection → Statute Citation → Hybrid LLM Fallback (Gemini → Ollama → Stub)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74320" y="3282696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282696"/>
            <a:ext cx="64008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9768" y="3465576"/>
            <a:ext cx="27432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3465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296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Barrister Agent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2960" y="361188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Legal-Tone Controlled Generation → Evidence + Policy Integration → Section Structuring → Consistency Pass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74320" y="4041648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4041648"/>
            <a:ext cx="6400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9768" y="4224528"/>
            <a:ext cx="2743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22960" y="4096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Judge Agent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22960" y="4370832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Citation Accuracy Check → Legal Compliance Scoring → Clinical Alignment Scoring → Hallucination Detection → APPROVE / REVISE Recommendation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74320" y="4800600"/>
            <a:ext cx="8595360" cy="182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80060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Orchestrator applies safe-execution logic: load checkpoint → run agent → save checkpoint → fallback on failure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Technology Used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Stack, Tools &amp; Frameworks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9262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AdvocAI — Autonomous Health Insurance Appeal System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0" y="49926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08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05840"/>
            <a:ext cx="42062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&amp; LLM Layer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141732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Gemini 2.5 Flash (primary reasoning)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Ollama Llama 3.2 (offline fallback)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AFC – Auto Function Calling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PubMed API (biomedical evidence retrieval)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05840"/>
            <a:ext cx="42062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Core Python Stack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92040" y="141732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Python 3.10+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FastAPI (REST API server)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Uvicorn (ASGI server)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pdfplumber / pytesseract (OCR)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71800"/>
            <a:ext cx="42062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718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&amp; Storage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338328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JSON Filesystem (session storage)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PostgreSQL + PLpgSQL (optional DB)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Structured JSON schemas (inter-agent)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Session checkpointing system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09160" y="297180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971800"/>
            <a:ext cx="42062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9718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DevOps &amp; Tooling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92040" y="338328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PowerShell / Batchfile scripts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JavaScript (CLI utilities)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MIT License / GitHub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Modular directory architecture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Weekly Work Details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Sprint-wise Progress Summary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9262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AdvocAI — Autonomous Health Insurance Appeal System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0" y="49926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09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931921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 Completed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/ Deliverable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planning, architecture design, environment setup, repo initialisation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 scaffolding, requirements.txt, modular directory structure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GitHub, VS Code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 Agent: OCR pipeline, PDF parsing, ICD/CPT extraction, policy clause 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denial JSON output from raw PDFs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pdfplumber, pytesseract, Python regex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 Agent: PubMed integration, AFC tool call, evidence extraction &amp; verification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evidence dossier with PMIDs and clinical summaries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PubMed API, Gemini AFC, Python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Agent: legal rule engine, ACA/ERISA matching, hybrid LLM fallback (Gemini → Ollama)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compliance brief with cited statutes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 Flash, Ollama Llama 3.2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Barrister Agent: legal-tone letter generation, section structuring; Judge Agent: QA scoring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Polished appellate letter + QA scorecard (APPROVE/REVISE)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Gemini, Ollama, JSON schema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Orchestrator: pipeline control, checkpointing, retry/resume, FastAPI server, CLI mode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working pipeline (API + CLI), session storage, final documentation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FastAPI, Uvicorn, PostgreSQL, GitHub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Expected Results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Outcomes &amp; Performance Benchmarks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9262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AdvocAI — Autonomous Health Insurance Appeal System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0" y="49926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4320" y="9875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Pipeline Performance Benchmarks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4114800" cy="19202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denial 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6–10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PubMed evidence dossier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compliance brief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Barrister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appeal letter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scorecard + recommendation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8"/>
          <p:cNvSpPr/>
          <p:nvPr/>
        </p:nvSpPr>
        <p:spPr>
          <a:xfrm>
            <a:off x="4663440" y="9875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Judge Agent Quality Scores (Target)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66344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Clinical Alignment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766560" y="1417320"/>
            <a:ext cx="18288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1417320"/>
            <a:ext cx="1664208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41080" y="1371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91%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66344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Legal Compliance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766560" y="1874520"/>
            <a:ext cx="18288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66560" y="1874520"/>
            <a:ext cx="1609344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41080" y="1828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88%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66344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Structure Integrity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766560" y="2331720"/>
            <a:ext cx="18288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766560" y="2331720"/>
            <a:ext cx="182880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41080" y="22860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100%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663440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Hallucination-Free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766560" y="2788920"/>
            <a:ext cx="18288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66560" y="2788920"/>
            <a:ext cx="173736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41080" y="2743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95%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274320" y="3246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Expected Impact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274320" y="3547872"/>
            <a:ext cx="274320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30168"/>
            <a:ext cx="384048" cy="38404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22960" y="36301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Increase Appeal Rate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365760" y="405079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Empower patients who would otherwise give up to submit high-quality appeals.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29"/>
          <p:cNvSpPr/>
          <p:nvPr/>
        </p:nvSpPr>
        <p:spPr>
          <a:xfrm>
            <a:off x="3200400" y="3547872"/>
            <a:ext cx="274320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630168"/>
            <a:ext cx="384048" cy="38404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3749040" y="36301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Higher Success Rate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3291840" y="405079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Medically + legally grounded letters vastly improve chances of claim approval.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2"/>
          <p:cNvSpPr/>
          <p:nvPr/>
        </p:nvSpPr>
        <p:spPr>
          <a:xfrm>
            <a:off x="6126480" y="3547872"/>
            <a:ext cx="274320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630168"/>
            <a:ext cx="384048" cy="38404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675120" y="36301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Democratise Access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4"/>
          <p:cNvSpPr/>
          <p:nvPr/>
        </p:nvSpPr>
        <p:spPr>
          <a:xfrm>
            <a:off x="6217920" y="405079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Remove the cost barrier — any patient can get expert-level appeal documentation.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9262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AdvocAI — Autonomous Health Insurance Appeal System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0" y="49926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868680"/>
            <a:ext cx="3200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0058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5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AdvocAI isn't a demo — it is a production-aligned multi-agent system that sits at the real-world intersection of medicine, law, and artificial intelligence.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19656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78992" y="17830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Achieves full pipeline automation from PDF denial to ready-to-file appeal letter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7685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78992" y="22402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Grounds every appeal in peer-reviewed PubMed evidence — no guesswork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734056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78992" y="26974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Cites real ACA, ERISA, and state statutes for legally defensible arguments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191256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78992" y="31546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Validated by an AI Judge Agent with hallucination detection before output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648456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78992" y="36118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Fault-tolerant: hybrid LLM fallback ensures zero pipeline failures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105656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78992" y="40690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Demonstrates that AI can be a powerful force for social good in healthcare equity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685800" y="4617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AdvocAI proves that multi-agent AI systems can solve real, complex, socially impactful problems.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Acknowledgement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9262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AdvocAI — Autonomous Health Insurance Appeal System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0" y="49926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 extend our sincere gratitude to everyone who guided and supported this project.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481328"/>
            <a:ext cx="85953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36776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1527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Internship Organisation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22960" y="178308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providing the platform, mentorship, and resources to pursue this project during the internship duration.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74320" y="2139696"/>
            <a:ext cx="85953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295144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2960" y="21854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Kaggle &amp; Google DeepMind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22960" y="2441448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hosting the 5-Day Agents Intensive programme and providing access to cutting-edge Gemini 2.5 Flash models via the Kaggle environment.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274320" y="2798064"/>
            <a:ext cx="85953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953512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PubMed / NCBI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822960" y="3099816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maintaining the world's most comprehensive open biomedical literature database, enabling evidence-based reasoning in AdvocAI.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274320" y="3456432"/>
            <a:ext cx="85953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6118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2960" y="3502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Open-Source Community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22960" y="3758184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the libraries, frameworks and tools — FastAPI, Ollama, pdfplumber, pytesseract — that made this project possible.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274320" y="4114800"/>
            <a:ext cx="85953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270248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296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Team Members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822960" y="441655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Viraj Jadhao and the AdvocAI team for their dedication, collaborative spirit, and technical contributions across all six weeks.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List of References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9262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AdvocAI — Autonomous Health Insurance Appeal System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0" y="49926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13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[1]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10058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Kaggle – 5-Day Agents Intensive (Agents for Good)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777240" y="1179576"/>
            <a:ext cx="8138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https://www.kaggle.com/learn/google-ai-intensive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74320" y="13898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[2]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138988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DeepMind – Gemini 2.5 Flash Model Documentation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>
            <a:hlinkClick r:id="rId4"/>
          </p:cNvPr>
          <p:cNvSpPr/>
          <p:nvPr/>
        </p:nvSpPr>
        <p:spPr>
          <a:xfrm>
            <a:off x="777240" y="1563624"/>
            <a:ext cx="8138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https://deepmind.google/technologies/gemini/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4320" y="17739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[3]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177393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National Center for Biotechnology Information – PubMed API (Entrez)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>
            <a:hlinkClick r:id="rId5"/>
          </p:cNvPr>
          <p:cNvSpPr/>
          <p:nvPr/>
        </p:nvSpPr>
        <p:spPr>
          <a:xfrm>
            <a:off x="777240" y="1947672"/>
            <a:ext cx="8138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https://www.ncbi.nlm.nih.gov/home/develop/api/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4320" y="21579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[4]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7240" y="215798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U.S. Dept. of Labor – ERISA Overview (Employee Retirement Income Security Act)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>
            <a:hlinkClick r:id="rId6"/>
          </p:cNvPr>
          <p:cNvSpPr/>
          <p:nvPr/>
        </p:nvSpPr>
        <p:spPr>
          <a:xfrm>
            <a:off x="777240" y="2331720"/>
            <a:ext cx="8138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https://www.dol.gov/general/topic/health-plans/erisa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74320" y="25420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[5]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7240" y="254203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HealthCare.gov – Affordable Care Act (ACA) §2713: Preventive Care Mandate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>
            <a:hlinkClick r:id="rId7"/>
          </p:cNvPr>
          <p:cNvSpPr/>
          <p:nvPr/>
        </p:nvSpPr>
        <p:spPr>
          <a:xfrm>
            <a:off x="777240" y="2715768"/>
            <a:ext cx="8138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https://www.healthcare.gov/coverage/preventive-care-benefits/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74320" y="2926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[6]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77240" y="29260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Ollama – Local LLM Runtime (Llama 3.2)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>
            <a:hlinkClick r:id="rId8"/>
          </p:cNvPr>
          <p:cNvSpPr/>
          <p:nvPr/>
        </p:nvSpPr>
        <p:spPr>
          <a:xfrm>
            <a:off x="777240" y="3099816"/>
            <a:ext cx="8138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https://ollama.com/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74320" y="33101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[7]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77240" y="33101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FastAPI – High Performance Python Web Framework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>
            <a:hlinkClick r:id="rId9"/>
          </p:cNvPr>
          <p:cNvSpPr/>
          <p:nvPr/>
        </p:nvSpPr>
        <p:spPr>
          <a:xfrm>
            <a:off x="777240" y="3483864"/>
            <a:ext cx="8138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https://fastapi.tiangolo.com/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74320" y="36941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[8]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77240" y="369417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pdfplumber – PDF Text &amp; Table Extraction Library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>
            <a:hlinkClick r:id="rId10"/>
          </p:cNvPr>
          <p:cNvSpPr/>
          <p:nvPr/>
        </p:nvSpPr>
        <p:spPr>
          <a:xfrm>
            <a:off x="777240" y="3867912"/>
            <a:ext cx="8138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https://github.com/jsvine/pdfplumber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74320" y="40782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[9]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77240" y="407822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pytesseract – Python OCR Wrapper (Tesseract)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>
            <a:hlinkClick r:id="rId11"/>
          </p:cNvPr>
          <p:cNvSpPr/>
          <p:nvPr/>
        </p:nvSpPr>
        <p:spPr>
          <a:xfrm>
            <a:off x="777240" y="4251960"/>
            <a:ext cx="8138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https://github.com/madmaze/pytesseract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74320" y="44622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[10]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77240" y="446227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AdvocAI GitHub Repository (Source Code)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>
            <a:hlinkClick r:id="rId12"/>
          </p:cNvPr>
          <p:cNvSpPr/>
          <p:nvPr/>
        </p:nvSpPr>
        <p:spPr>
          <a:xfrm>
            <a:off x="777240" y="4636008"/>
            <a:ext cx="8138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https://github.com/Viraj281105/Advocai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1800</Words>
  <Application>Microsoft Office PowerPoint</Application>
  <PresentationFormat>On-screen Show (16:9)</PresentationFormat>
  <Paragraphs>299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AdvocAI — Internship Project Review</dc:title>
  <dc:subject>PptxGenJS Presentation</dc:subject>
  <dc:creator>Viraj Jadhao</dc:creator>
  <cp:lastModifiedBy>Viraj Jadhao</cp:lastModifiedBy>
  <cp:revision>2</cp:revision>
  <dcterms:created xsi:type="dcterms:W3CDTF">2026-02-25T07:01:02Z</dcterms:created>
  <dcterms:modified xsi:type="dcterms:W3CDTF">2026-02-25T07:20:43Z</dcterms:modified>
</cp:coreProperties>
</file>