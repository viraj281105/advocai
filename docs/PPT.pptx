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3" r:id="rId4"/>
    <p:sldId id="274" r:id="rId5"/>
    <p:sldId id="271" r:id="rId6"/>
    <p:sldId id="262" r:id="rId7"/>
    <p:sldId id="270" r:id="rId8"/>
    <p:sldId id="261" r:id="rId9"/>
    <p:sldId id="263" r:id="rId10"/>
    <p:sldId id="264" r:id="rId11"/>
    <p:sldId id="275" r:id="rId12"/>
    <p:sldId id="266" r:id="rId13"/>
    <p:sldId id="267" r:id="rId14"/>
  </p:sldIdLst>
  <p:sldSz cx="4610100" cy="3467100"/>
  <p:notesSz cx="4610100" cy="3467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4" d="100"/>
          <a:sy n="214" d="100"/>
        </p:scale>
        <p:origin x="1188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53:38.1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597 289 24575,'-183'-73'0,"97"41"0,59 23 0,19 7 0,0-1 0,0 0 0,-14-8 0,19 9 0,0 0 0,0 0 0,1-1 0,-1 1 0,1 0 0,-1-1 0,1 0 0,0 0 0,0 0 0,0 0 0,1 0 0,-1 0 0,-1-4 0,-2-9 0,1 5 0,-1 0 0,1 0 0,-2 0 0,-5-9 0,9 17 0,0 1 0,0-1 0,0 1 0,0-1 0,-1 1 0,1 0 0,-1 0 0,1 0 0,-1 1 0,0-1 0,1 0 0,-1 1 0,0 0 0,0 0 0,0 0 0,0 0 0,0 0 0,-1 0 0,-4 0 0,7 1 0,-13-1 0,0 1 0,0 1 0,-17 1 0,28-1 0,1-1 0,-1 0 0,0 1 0,1 0 0,-1-1 0,1 1 0,-1 0 0,1 0 0,-1 0 0,1 1 0,0-1 0,-1 1 0,1-1 0,0 1 0,0 0 0,0 0 0,0 0 0,1 0 0,-1 0 0,0 0 0,1 0 0,-1 0 0,1 1 0,-2 3 0,3-4 0,0 1 0,0-1 0,0 0 0,1 1 0,-1-1 0,1 0 0,-1 1 0,1-1 0,0 0 0,0 1 0,0-1 0,0 0 0,0 0 0,0 0 0,0 0 0,1 0 0,-1 0 0,1 0 0,0-1 0,-1 1 0,3 1 0,5 5 0,-1-1 0,1 0 0,11 6 0,-7-5 0,-7-3 0,1 0 0,0-1 0,1 0 0,-1 0 0,1-1 0,-1 0 0,1 0 0,0-1 0,0 0 0,0 0 0,0-1 0,15 1 0,5-5 0,-1-1 0,1-1 0,-1-1 0,0-1 0,0-2 0,27-12 0,-11 4 0,49-10 0,-8 3 0,-56 15 0,1 1 0,0 2 0,1 0 0,46-2 0,-75 8 0,1 0 0,-1 0 0,0 0 0,1 0 0,-1 0 0,0 0 0,1 0 0,-1 0 0,0 1 0,0-1 0,1 1 0,-1-1 0,0 1 0,0-1 0,1 1 0,-1 0 0,0-1 0,0 1 0,0 0 0,0 0 0,0 0 0,0 0 0,0 0 0,0 0 0,-1 0 0,1 0 0,0 0 0,-1 0 0,1 1 0,-1-1 0,1 0 0,-1 0 0,1 1 0,-1 1 0,5 8 0,-4-10 0,0 1 0,0-1 0,1 1 0,-1-1 0,0 0 0,1 0 0,-1 1 0,1-1 0,-1 0 0,1 0 0,0 0 0,-1-1 0,1 1 0,0 0 0,0-1 0,-1 1 0,1-1 0,0 1 0,0-1 0,3 0 0,44 1 0,-35-2 0,41-1 0,-20 1 0,34 2 0,-28 6 0,17-1 0,23-7 0,63 2 0,-138 0 0,1-1 0,0 1 0,-1 1 0,1-1 0,-1 1 0,1 0 0,7 4 0,-12-5 0,1 1 0,-1-1 0,0 1 0,0-1 0,0 1 0,-1 0 0,1-1 0,0 1 0,-1 0 0,1 0 0,-1 0 0,0 1 0,1-1 0,-1 0 0,0 0 0,0 1 0,-1-1 0,1 1 0,0-1 0,-1 0 0,1 1 0,-1 3 0,1 2 0,-1-1 0,0 1 0,0 0 0,-1-1 0,-1 11 0,1-16 0,1 0 0,-1 0 0,0 0 0,0 0 0,1-1 0,-1 1 0,0 0 0,0-1 0,-1 1 0,1-1 0,0 1 0,0-1 0,-1 0 0,1 1 0,-1-1 0,1 0 0,-1 0 0,0 0 0,1 0 0,-1 0 0,0 0 0,0-1 0,1 1 0,-1 0 0,0-1 0,-4 1 0,-51 10 0,36-6 0,1-1 0,-1-1 0,-28 1 0,-118-15 0,48-5 0,118 15-45,-1 1-1,1 0 1,0 0-1,0-1 1,0 1-1,-1 0 1,1-1-1,0 0 1,0 1-1,0-1 1,0 1-1,0-1 1,0 0-1,0 0 1,0 0-1,0 0 1,0 0-1,1 0 1,-1 0-1,0 0 1,0 0-1,1 0 1,-1 0-1,1 0 0,-1 0 1,1 0-1,-1-1 1,1 1-1,0-2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FD664-A7DB-477E-9947-5FA40BF334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9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8463"/>
            <a:ext cx="3689350" cy="13652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9406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9406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BFBB5-E447-41EB-B42C-884E5C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8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BFBB5-E447-41EB-B42C-884E5C2790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9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4801"/>
            <a:ext cx="3918585" cy="7280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41576"/>
            <a:ext cx="3227070" cy="866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7433"/>
            <a:ext cx="2005393" cy="22882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7433"/>
            <a:ext cx="2005393" cy="22882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88385" y="324219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5"/>
                </a:moveTo>
                <a:lnTo>
                  <a:pt x="43018" y="30365"/>
                </a:lnTo>
                <a:lnTo>
                  <a:pt x="43018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0875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8655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39084" y="323188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18" y="50799"/>
                </a:lnTo>
                <a:lnTo>
                  <a:pt x="43018" y="20434"/>
                </a:lnTo>
                <a:lnTo>
                  <a:pt x="0" y="20434"/>
                </a:lnTo>
                <a:lnTo>
                  <a:pt x="0" y="50799"/>
                </a:lnTo>
                <a:close/>
              </a:path>
              <a:path w="64135" h="50800">
                <a:moveTo>
                  <a:pt x="10413" y="20319"/>
                </a:moveTo>
                <a:lnTo>
                  <a:pt x="10413" y="10159"/>
                </a:lnTo>
                <a:lnTo>
                  <a:pt x="53593" y="10159"/>
                </a:lnTo>
                <a:lnTo>
                  <a:pt x="53593" y="40639"/>
                </a:lnTo>
                <a:lnTo>
                  <a:pt x="43433" y="40639"/>
                </a:lnTo>
              </a:path>
              <a:path w="64135" h="50800">
                <a:moveTo>
                  <a:pt x="20574" y="10159"/>
                </a:moveTo>
                <a:lnTo>
                  <a:pt x="20574" y="0"/>
                </a:lnTo>
                <a:lnTo>
                  <a:pt x="63753" y="0"/>
                </a:lnTo>
                <a:lnTo>
                  <a:pt x="63753" y="30479"/>
                </a:lnTo>
                <a:lnTo>
                  <a:pt x="53593" y="30479"/>
                </a:lnTo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75838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453638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31946" y="324458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42919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720846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619246" y="323188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399"/>
                </a:moveTo>
                <a:lnTo>
                  <a:pt x="50800" y="25399"/>
                </a:lnTo>
              </a:path>
              <a:path w="50800" h="50800">
                <a:moveTo>
                  <a:pt x="0" y="38099"/>
                </a:moveTo>
                <a:lnTo>
                  <a:pt x="38100" y="38099"/>
                </a:lnTo>
              </a:path>
              <a:path w="50800" h="50800">
                <a:moveTo>
                  <a:pt x="12700" y="50799"/>
                </a:moveTo>
                <a:lnTo>
                  <a:pt x="50800" y="50799"/>
                </a:lnTo>
              </a:path>
            </a:pathLst>
          </a:custGeom>
          <a:ln w="7591">
            <a:solidFill>
              <a:srgbClr val="D5D5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6327" y="323188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699"/>
                </a:moveTo>
                <a:lnTo>
                  <a:pt x="50800" y="12699"/>
                </a:lnTo>
              </a:path>
              <a:path w="50800" h="25400">
                <a:moveTo>
                  <a:pt x="12700" y="25399"/>
                </a:moveTo>
                <a:lnTo>
                  <a:pt x="50800" y="25399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1012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98792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886327" y="326998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5D5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153408" y="323188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699"/>
                </a:moveTo>
                <a:lnTo>
                  <a:pt x="50800" y="12699"/>
                </a:lnTo>
              </a:path>
              <a:path w="50800" h="50800">
                <a:moveTo>
                  <a:pt x="12700" y="25399"/>
                </a:moveTo>
                <a:lnTo>
                  <a:pt x="50800" y="25399"/>
                </a:lnTo>
              </a:path>
              <a:path w="50800" h="50800">
                <a:moveTo>
                  <a:pt x="0" y="38099"/>
                </a:moveTo>
                <a:lnTo>
                  <a:pt x="38100" y="38099"/>
                </a:lnTo>
              </a:path>
              <a:path w="50800" h="50800">
                <a:moveTo>
                  <a:pt x="12700" y="50799"/>
                </a:moveTo>
                <a:lnTo>
                  <a:pt x="50800" y="50799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451095" y="326236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19" y="20320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4329048" y="3231883"/>
            <a:ext cx="234315" cy="50800"/>
          </a:xfrm>
          <a:custGeom>
            <a:avLst/>
            <a:gdLst/>
            <a:ahLst/>
            <a:cxnLst/>
            <a:rect l="l" t="t" r="r" b="b"/>
            <a:pathLst>
              <a:path w="234314" h="50800">
                <a:moveTo>
                  <a:pt x="125349" y="19164"/>
                </a:moveTo>
                <a:lnTo>
                  <a:pt x="125349" y="10782"/>
                </a:lnTo>
                <a:lnTo>
                  <a:pt x="118490" y="3987"/>
                </a:lnTo>
                <a:lnTo>
                  <a:pt x="110109" y="3987"/>
                </a:lnTo>
                <a:lnTo>
                  <a:pt x="101726" y="3987"/>
                </a:lnTo>
                <a:lnTo>
                  <a:pt x="94868" y="10782"/>
                </a:lnTo>
                <a:lnTo>
                  <a:pt x="94868" y="19164"/>
                </a:lnTo>
                <a:lnTo>
                  <a:pt x="94868" y="27558"/>
                </a:lnTo>
                <a:lnTo>
                  <a:pt x="101726" y="34353"/>
                </a:lnTo>
                <a:lnTo>
                  <a:pt x="110109" y="34353"/>
                </a:lnTo>
                <a:lnTo>
                  <a:pt x="118490" y="34353"/>
                </a:lnTo>
                <a:lnTo>
                  <a:pt x="125349" y="27558"/>
                </a:lnTo>
                <a:lnTo>
                  <a:pt x="125349" y="19164"/>
                </a:lnTo>
                <a:close/>
              </a:path>
              <a:path w="234314" h="50800">
                <a:moveTo>
                  <a:pt x="40639" y="50799"/>
                </a:moveTo>
                <a:lnTo>
                  <a:pt x="50418" y="48793"/>
                </a:lnTo>
                <a:lnTo>
                  <a:pt x="58547" y="43332"/>
                </a:lnTo>
                <a:lnTo>
                  <a:pt x="64008" y="35255"/>
                </a:lnTo>
                <a:lnTo>
                  <a:pt x="66039" y="25399"/>
                </a:lnTo>
                <a:lnTo>
                  <a:pt x="64135" y="15532"/>
                </a:lnTo>
                <a:lnTo>
                  <a:pt x="58674" y="7454"/>
                </a:lnTo>
                <a:lnTo>
                  <a:pt x="50546" y="2006"/>
                </a:lnTo>
                <a:lnTo>
                  <a:pt x="40639" y="0"/>
                </a:lnTo>
                <a:lnTo>
                  <a:pt x="30861" y="2006"/>
                </a:lnTo>
                <a:lnTo>
                  <a:pt x="22733" y="7454"/>
                </a:lnTo>
                <a:lnTo>
                  <a:pt x="17272" y="15532"/>
                </a:lnTo>
                <a:lnTo>
                  <a:pt x="15239" y="25399"/>
                </a:lnTo>
              </a:path>
              <a:path w="234314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4314" h="50800">
                <a:moveTo>
                  <a:pt x="193166" y="50799"/>
                </a:moveTo>
                <a:lnTo>
                  <a:pt x="183261" y="48793"/>
                </a:lnTo>
                <a:lnTo>
                  <a:pt x="175133" y="43332"/>
                </a:lnTo>
                <a:lnTo>
                  <a:pt x="169672" y="35255"/>
                </a:lnTo>
                <a:lnTo>
                  <a:pt x="167766" y="25399"/>
                </a:lnTo>
                <a:lnTo>
                  <a:pt x="169672" y="15532"/>
                </a:lnTo>
                <a:lnTo>
                  <a:pt x="175133" y="7454"/>
                </a:lnTo>
                <a:lnTo>
                  <a:pt x="183261" y="2006"/>
                </a:lnTo>
                <a:lnTo>
                  <a:pt x="193166" y="0"/>
                </a:lnTo>
                <a:lnTo>
                  <a:pt x="202946" y="2006"/>
                </a:lnTo>
                <a:lnTo>
                  <a:pt x="211074" y="7454"/>
                </a:lnTo>
                <a:lnTo>
                  <a:pt x="216535" y="15532"/>
                </a:lnTo>
                <a:lnTo>
                  <a:pt x="218566" y="25399"/>
                </a:lnTo>
              </a:path>
              <a:path w="234314" h="50800">
                <a:moveTo>
                  <a:pt x="233806" y="17779"/>
                </a:moveTo>
                <a:lnTo>
                  <a:pt x="218566" y="30479"/>
                </a:lnTo>
                <a:lnTo>
                  <a:pt x="203326" y="17779"/>
                </a:lnTo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374" y="611250"/>
            <a:ext cx="437070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116963" y="3333251"/>
            <a:ext cx="36830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282" y="132055"/>
            <a:ext cx="4483735" cy="502284"/>
            <a:chOff x="87743" y="249554"/>
            <a:chExt cx="4483735" cy="502284"/>
          </a:xfrm>
        </p:grpSpPr>
        <p:sp>
          <p:nvSpPr>
            <p:cNvPr id="3" name="object 3"/>
            <p:cNvSpPr/>
            <p:nvPr/>
          </p:nvSpPr>
          <p:spPr>
            <a:xfrm>
              <a:off x="87743" y="24955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1" y="0"/>
                  </a:lnTo>
                  <a:lnTo>
                    <a:pt x="31074" y="4063"/>
                  </a:lnTo>
                  <a:lnTo>
                    <a:pt x="14922" y="14859"/>
                  </a:lnTo>
                  <a:lnTo>
                    <a:pt x="4008" y="3111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67" y="82423"/>
                  </a:lnTo>
                  <a:lnTo>
                    <a:pt x="4432567" y="50800"/>
                  </a:lnTo>
                  <a:lnTo>
                    <a:pt x="4428503" y="31115"/>
                  </a:lnTo>
                  <a:lnTo>
                    <a:pt x="4417581" y="14859"/>
                  </a:lnTo>
                  <a:lnTo>
                    <a:pt x="4401452" y="4063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312800"/>
              <a:ext cx="4432935" cy="438784"/>
            </a:xfrm>
            <a:custGeom>
              <a:avLst/>
              <a:gdLst/>
              <a:ahLst/>
              <a:cxnLst/>
              <a:rect l="l" t="t" r="r" b="b"/>
              <a:pathLst>
                <a:path w="4432935" h="438784">
                  <a:moveTo>
                    <a:pt x="4432554" y="0"/>
                  </a:moveTo>
                  <a:lnTo>
                    <a:pt x="0" y="0"/>
                  </a:lnTo>
                  <a:lnTo>
                    <a:pt x="0" y="438784"/>
                  </a:lnTo>
                  <a:lnTo>
                    <a:pt x="4432554" y="43878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294004"/>
              <a:ext cx="4432935" cy="407034"/>
            </a:xfrm>
            <a:custGeom>
              <a:avLst/>
              <a:gdLst/>
              <a:ahLst/>
              <a:cxnLst/>
              <a:rect l="l" t="t" r="r" b="b"/>
              <a:pathLst>
                <a:path w="4432935" h="407034">
                  <a:moveTo>
                    <a:pt x="4432567" y="0"/>
                  </a:moveTo>
                  <a:lnTo>
                    <a:pt x="0" y="0"/>
                  </a:lnTo>
                  <a:lnTo>
                    <a:pt x="0" y="355981"/>
                  </a:lnTo>
                  <a:lnTo>
                    <a:pt x="4008" y="375666"/>
                  </a:lnTo>
                  <a:lnTo>
                    <a:pt x="14922" y="391922"/>
                  </a:lnTo>
                  <a:lnTo>
                    <a:pt x="31074" y="402844"/>
                  </a:lnTo>
                  <a:lnTo>
                    <a:pt x="50801" y="406781"/>
                  </a:lnTo>
                  <a:lnTo>
                    <a:pt x="4381767" y="406781"/>
                  </a:lnTo>
                  <a:lnTo>
                    <a:pt x="4401452" y="402844"/>
                  </a:lnTo>
                  <a:lnTo>
                    <a:pt x="4417581" y="391922"/>
                  </a:lnTo>
                  <a:lnTo>
                    <a:pt x="4428503" y="375666"/>
                  </a:lnTo>
                  <a:lnTo>
                    <a:pt x="4432567" y="35598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083" y="212979"/>
            <a:ext cx="4369056" cy="273793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R="46990" algn="ctr">
              <a:spcBef>
                <a:spcPts val="45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“Autonomous Health Insurance Appeal System”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0256" y="1025088"/>
            <a:ext cx="2527427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689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Viraj Jadhao(35515)</a:t>
            </a:r>
          </a:p>
          <a:p>
            <a:pPr marL="0" marR="1689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of</a:t>
            </a:r>
          </a:p>
          <a:p>
            <a:pPr marL="12700" algn="ctr">
              <a:spcBef>
                <a:spcPts val="35"/>
              </a:spcBef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Internal Supervisor (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D.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Phulpagar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lang="en-IN" sz="11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0605" y="1795901"/>
            <a:ext cx="506730" cy="647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50213" y="2239733"/>
            <a:ext cx="1707514" cy="96725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</a:t>
            </a:r>
            <a:r>
              <a:rPr sz="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Savitribai Phule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" algn="ctr">
              <a:lnSpc>
                <a:spcPct val="100000"/>
              </a:lnSpc>
              <a:spcBef>
                <a:spcPts val="5"/>
              </a:spcBef>
            </a:pP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25-Feb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-202</a:t>
            </a:r>
            <a:r>
              <a:rPr lang="en-IN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1" name="object 11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695450" y="3333251"/>
            <a:ext cx="1600200" cy="12952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sz="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1105" y="3333251"/>
            <a:ext cx="709930" cy="2346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8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894" y="45465"/>
            <a:ext cx="119443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3604" y="488695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426" y="409251"/>
            <a:ext cx="1685289" cy="2537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Offer Letter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Certificate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Problem Statement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Scope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System Architecture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Methodology/ Algorithm</a:t>
            </a:r>
          </a:p>
          <a:p>
            <a:pPr marL="17145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Technology Used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Weekly Work Details (In tabular format)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Expected Results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Acknowledgement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List of references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35280">
              <a:lnSpc>
                <a:spcPct val="151000"/>
              </a:lnSpc>
              <a:spcBef>
                <a:spcPts val="95"/>
              </a:spcBef>
            </a:pP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604" y="1248232"/>
            <a:ext cx="8255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604" y="2007234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04" y="2260498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604" y="2513787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257" y="2750066"/>
            <a:ext cx="198120" cy="15388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00" spc="-25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26" name="object 26"/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xfrm>
            <a:off x="1529715" y="3333251"/>
            <a:ext cx="1542286" cy="12952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16">
            <a:extLst>
              <a:ext uri="{FF2B5EF4-FFF2-40B4-BE49-F238E27FC236}">
                <a16:creationId xmlns:a16="http://schemas.microsoft.com/office/drawing/2014/main" id="{DA2D204C-BA73-CFDB-FB5C-2F2B0DD66766}"/>
              </a:ext>
            </a:extLst>
          </p:cNvPr>
          <p:cNvSpPr txBox="1"/>
          <p:nvPr/>
        </p:nvSpPr>
        <p:spPr>
          <a:xfrm>
            <a:off x="3261105" y="3333251"/>
            <a:ext cx="709930" cy="21929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97FC-64A2-D090-4994-27C87E00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1544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60B20-AE3B-1B8E-DD11-886993F3B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374" y="611250"/>
            <a:ext cx="4370705" cy="153888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268B351-D92D-5B62-FC4B-9D7F062D1A0B}"/>
              </a:ext>
            </a:extLst>
          </p:cNvPr>
          <p:cNvSpPr/>
          <p:nvPr/>
        </p:nvSpPr>
        <p:spPr>
          <a:xfrm>
            <a:off x="1905" y="4189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Offer Letter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25">
            <a:extLst>
              <a:ext uri="{FF2B5EF4-FFF2-40B4-BE49-F238E27FC236}">
                <a16:creationId xmlns:a16="http://schemas.microsoft.com/office/drawing/2014/main" id="{1B34F0CA-2FB7-DEDC-E721-0F94D382F07D}"/>
              </a:ext>
            </a:extLst>
          </p:cNvPr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6" name="object 26">
              <a:extLst>
                <a:ext uri="{FF2B5EF4-FFF2-40B4-BE49-F238E27FC236}">
                  <a16:creationId xmlns:a16="http://schemas.microsoft.com/office/drawing/2014/main" id="{5AA1EC47-B063-A361-3C19-382A92FA6E8A}"/>
                </a:ext>
              </a:extLst>
            </p:cNvPr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27">
              <a:extLst>
                <a:ext uri="{FF2B5EF4-FFF2-40B4-BE49-F238E27FC236}">
                  <a16:creationId xmlns:a16="http://schemas.microsoft.com/office/drawing/2014/main" id="{5D5E0005-63B5-0C3C-05BD-214B0F84FD89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28">
              <a:extLst>
                <a:ext uri="{FF2B5EF4-FFF2-40B4-BE49-F238E27FC236}">
                  <a16:creationId xmlns:a16="http://schemas.microsoft.com/office/drawing/2014/main" id="{6A186CEB-6EAC-4F48-E16C-90DEB35D6829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20568DA-FB0B-8229-A4B8-A391659E0D4E}"/>
              </a:ext>
            </a:extLst>
          </p:cNvPr>
          <p:cNvSpPr txBox="1"/>
          <p:nvPr/>
        </p:nvSpPr>
        <p:spPr>
          <a:xfrm>
            <a:off x="109255" y="3291707"/>
            <a:ext cx="4498812" cy="320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7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700" spc="-3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lang="en-US" sz="700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spc="-2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                                      </a:t>
            </a: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800" spc="-1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z="700" spc="-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7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7A9-711F-264C-C6C8-BB907D08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EF3C-37AB-A1F0-71F0-91E67F36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1544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3E3643B-5D15-A01F-0A23-7155943BC739}"/>
              </a:ext>
            </a:extLst>
          </p:cNvPr>
          <p:cNvSpPr/>
          <p:nvPr/>
        </p:nvSpPr>
        <p:spPr>
          <a:xfrm>
            <a:off x="1905" y="4189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pPr marL="171450" indent="-171450" algn="l" rtl="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Certificate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25">
            <a:extLst>
              <a:ext uri="{FF2B5EF4-FFF2-40B4-BE49-F238E27FC236}">
                <a16:creationId xmlns:a16="http://schemas.microsoft.com/office/drawing/2014/main" id="{D7CB0565-00F5-68A5-F1B2-4BFEB6314743}"/>
              </a:ext>
            </a:extLst>
          </p:cNvPr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6" name="object 26">
              <a:extLst>
                <a:ext uri="{FF2B5EF4-FFF2-40B4-BE49-F238E27FC236}">
                  <a16:creationId xmlns:a16="http://schemas.microsoft.com/office/drawing/2014/main" id="{285E0678-A431-CD80-367B-B83FCE46A9E0}"/>
                </a:ext>
              </a:extLst>
            </p:cNvPr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27">
              <a:extLst>
                <a:ext uri="{FF2B5EF4-FFF2-40B4-BE49-F238E27FC236}">
                  <a16:creationId xmlns:a16="http://schemas.microsoft.com/office/drawing/2014/main" id="{020C7CB9-4D22-62D4-4C5C-1CFF6DAD0CCC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28">
              <a:extLst>
                <a:ext uri="{FF2B5EF4-FFF2-40B4-BE49-F238E27FC236}">
                  <a16:creationId xmlns:a16="http://schemas.microsoft.com/office/drawing/2014/main" id="{FD9E18CD-CDAA-1B4F-AABA-61879AB5497A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63B93E-8B5B-56B7-721D-3401239AE4C8}"/>
              </a:ext>
            </a:extLst>
          </p:cNvPr>
          <p:cNvSpPr txBox="1"/>
          <p:nvPr/>
        </p:nvSpPr>
        <p:spPr>
          <a:xfrm>
            <a:off x="109255" y="3291707"/>
            <a:ext cx="4498812" cy="320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7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700" spc="-3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lang="en-US" sz="700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spc="-2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                                      </a:t>
            </a: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800" spc="-1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z="700" spc="-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37C33C-3B6A-5E98-902F-869391BBC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89" y="333257"/>
            <a:ext cx="2090487" cy="29920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15D81B-54F2-ED9B-398C-CBAFCB1F1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576" y="3138388"/>
            <a:ext cx="1263491" cy="18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47FEF46-D503-AEE6-0B19-21D958F6F400}"/>
              </a:ext>
            </a:extLst>
          </p:cNvPr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8637BC04-DAE2-F951-59DB-8BEDB2A57E3E}"/>
              </a:ext>
            </a:extLst>
          </p:cNvPr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8D0923-6E55-AB76-D4AB-46F6A6BF5839}"/>
                </a:ext>
              </a:extLst>
            </p:cNvPr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2E99885-4734-D48E-2BE6-95E8A7BBDC17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18C5F02-4F30-F47F-23B4-A093ADB121E4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2FFFDA0-FC39-1026-18FB-8A78ED5851B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6179264-3AF5-FE7F-3B8A-421C2B0466E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619250" y="3333251"/>
            <a:ext cx="1452751" cy="21929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29B85C8D-94F8-8B64-A9F4-C5ADE8731B2D}"/>
              </a:ext>
            </a:extLst>
          </p:cNvPr>
          <p:cNvSpPr txBox="1"/>
          <p:nvPr/>
        </p:nvSpPr>
        <p:spPr>
          <a:xfrm>
            <a:off x="3261105" y="3333251"/>
            <a:ext cx="709930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32">
            <a:extLst>
              <a:ext uri="{FF2B5EF4-FFF2-40B4-BE49-F238E27FC236}">
                <a16:creationId xmlns:a16="http://schemas.microsoft.com/office/drawing/2014/main" id="{CF295E62-2D61-A14B-F3D1-EF67FB9E595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48786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F686AA-E86C-5AB4-ADBF-EA4D2809E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5846"/>
            <a:ext cx="4610100" cy="4366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132BAF-F45C-D3D0-2B84-3865DC9203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050" y="361967"/>
            <a:ext cx="1789464" cy="2877178"/>
          </a:xfrm>
          <a:prstGeom prst="rect">
            <a:avLst/>
          </a:prstGeom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322494DD-71CB-FE0A-9047-E9503C830797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5586" y="520790"/>
            <a:ext cx="27738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AdvocAI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fully autonomous, end-to-end multi-agent AI system designed to help patients fight wrongfully denied health insurance claims.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Integrates document parsing (OCR), medical evidence retrieval (PubMed), legal statute matching, and professional AI-generated writing into a single automated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Requires only two inputs: denial letter PDF + policy PDF — no human intervention after upload.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Deploys a hybrid LLM strategy: Gemini 2.5 Flash (primary) + Ollama Llama 3.2 (offline fallback).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 a complete appeal package: appeal letter PDF, medical evidence dossier, legal brief, and QA scorecard.</a:t>
            </a:r>
          </a:p>
        </p:txBody>
      </p:sp>
    </p:spTree>
    <p:extLst>
      <p:ext uri="{BB962C8B-B14F-4D97-AF65-F5344CB8AC3E}">
        <p14:creationId xmlns:p14="http://schemas.microsoft.com/office/powerpoint/2010/main" val="115076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5646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536066" y="3333251"/>
            <a:ext cx="1659380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E5A37-0A6B-3AEC-5DDC-E51C363D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3" y="2578320"/>
            <a:ext cx="4610100" cy="7241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6A12B1-EEF3-EAA0-4FE3-A8933C603E07}"/>
              </a:ext>
            </a:extLst>
          </p:cNvPr>
          <p:cNvSpPr txBox="1"/>
          <p:nvPr/>
        </p:nvSpPr>
        <p:spPr>
          <a:xfrm>
            <a:off x="17017" y="346392"/>
            <a:ext cx="45720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claim denials constitute a structural challenge within healthcare administration. Although a substantial proportion of appealed denials are overturned, most patients never initiate the process — reflecting systemic barriers rather than lack of eligibility.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Causes of Appeal Failure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Literacy Deficit: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lack the technical ability to interpret coding errors, policy language, and administrative requirements.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Clinical Evidence: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appeals require peer-reviewed proof of medical necessity, typically inaccessible to individuals.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Complexity: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federal and state statutes create a legally intricate appeals environment.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Barriers: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advocacy and legal support are frequently cost-prohibitive.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Deadlines: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filing timelines discourage or eliminate many potential appeals.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Denials are less a question of medical merit and more a function of systemic complexity. Patients lose coverage due to structural barriers, not clinical ineligibility.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5199" y="3328856"/>
            <a:ext cx="4618590" cy="138244"/>
            <a:chOff x="0" y="3326967"/>
            <a:chExt cx="4608195" cy="129539"/>
          </a:xfrm>
        </p:grpSpPr>
        <p:sp>
          <p:nvSpPr>
            <p:cNvPr id="4" name="object 4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536064" y="3333251"/>
            <a:ext cx="1470531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9BACC35-3AF3-FA9B-0D02-5FCD318E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" y="342879"/>
            <a:ext cx="454266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Case Management Dashboard: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web interface with guided uploads, real-time status tracking, progress indicators, and in-app document previews.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Document Processing Engine: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OCR-based parsing of denial letters and policy PDFs with structured extraction of ICD codes, CPT codes, denial reason codes, and relevant policy clauses.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&amp; Legal Intelligence Layer: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PubMed API integration for peer-reviewed evidence retrieval, combined with automated statute matching against ACA, ERISA, and applicable state mandates.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Appeal Generation &amp; Validation: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Professionally structured appellate letter generation with AI-driven quality checks for citation accuracy, hallucination detection, structural integrity, and compliance scoring.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LLM Orchestration Framework: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routing across Gemini 2.5 Flash (primary), Ollama Llama 3.2 (fallback), and a stub-based safety layer to ensure resilience and continuity.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Production-Grade Deployment Architecture: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Fault-tolerant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with checkpointing and session persistence, integrated with a scalable web frontend and cloud-ready infrastructure.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A6F8C2B4-3A06-A5F5-3A71-06E0F3BAFC87}"/>
              </a:ext>
            </a:extLst>
          </p:cNvPr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7ECB642A-B375-47A7-27BE-25D682FC17E1}"/>
              </a:ext>
            </a:extLst>
          </p:cNvPr>
          <p:cNvSpPr txBox="1"/>
          <p:nvPr/>
        </p:nvSpPr>
        <p:spPr>
          <a:xfrm>
            <a:off x="94894" y="45465"/>
            <a:ext cx="15646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002829-3F59-564D-2810-B3617C41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395" y="3118833"/>
            <a:ext cx="1703311" cy="183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780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03640"/>
            <a:ext cx="4608195" cy="129539"/>
            <a:chOff x="0" y="3326967"/>
            <a:chExt cx="4608195" cy="129539"/>
          </a:xfrm>
        </p:grpSpPr>
        <p:sp>
          <p:nvSpPr>
            <p:cNvPr id="10" name="object 10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619250" y="3321913"/>
            <a:ext cx="1387346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5691" y="3325119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E13094-E0ED-D1C6-F182-F2ED7D77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" y="368354"/>
            <a:ext cx="4572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End-to-End Appeal Workflow: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a fully autonomous pipeline that converts denial and policy PDFs into a submission-ready appeal letter, with agents handling parsing, evidence retrieval, legal reasoning, drafting, and validation.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Appeals in Peer-Reviewed Medical Evidence: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PubMed/NCBI APIs with intelligent query generation to retrieve clinically relevant literature aligned to extracted diagnosis and procedure codes.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Regulatory Reasoning and Statutory Citation: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legal intelligence layer that identifies and applies federal and state statutes, transforming them into structured, citable arguments.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AI-Based Quality Adjudication: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an independent Judge Agent that evaluates each appeal for clinical alignment, legal compliance, structural coherence, factual accuracy, and hallucination risk.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Production-Grade Resilience: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fault-tolerant architecture with checkpoint capability, hybrid LLM fallback routing, and modular agent design to ensure scalability and maintainability.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AI for Healthcare Equity: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 that multi-agent AI systems address systemic access barriers, delivering professional-grade appeal documentation to underserved patients.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CE250-FAB3-8139-BACA-65392E2A8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739" y="3124588"/>
            <a:ext cx="1703311" cy="183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5958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</a:t>
            </a:r>
            <a:r>
              <a:rPr sz="1400" spc="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536065" y="3333251"/>
            <a:ext cx="1535936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881805-3747-191A-B287-82E73220BCDA}"/>
                  </a:ext>
                </a:extLst>
              </p14:cNvPr>
              <p14:cNvContentPartPr/>
              <p14:nvPr/>
            </p14:nvContentPartPr>
            <p14:xfrm>
              <a:off x="3897443" y="2962597"/>
              <a:ext cx="553680" cy="104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881805-3747-191A-B287-82E73220BC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4443" y="2899597"/>
                <a:ext cx="679320" cy="2300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AutoShape 4" descr="Generated image">
            <a:extLst>
              <a:ext uri="{FF2B5EF4-FFF2-40B4-BE49-F238E27FC236}">
                <a16:creationId xmlns:a16="http://schemas.microsoft.com/office/drawing/2014/main" id="{9D8F59F9-6ECA-A5C7-6F4D-00348ED762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650" y="1581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utoShape 6" descr="Generated image">
            <a:extLst>
              <a:ext uri="{FF2B5EF4-FFF2-40B4-BE49-F238E27FC236}">
                <a16:creationId xmlns:a16="http://schemas.microsoft.com/office/drawing/2014/main" id="{A8B32B2D-BA40-4E8A-B1E8-5494D806A3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05050" y="1733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8" descr="Generated image">
            <a:extLst>
              <a:ext uri="{FF2B5EF4-FFF2-40B4-BE49-F238E27FC236}">
                <a16:creationId xmlns:a16="http://schemas.microsoft.com/office/drawing/2014/main" id="{A9E02AFF-B0CF-FC2D-89A1-5D9E5F7A71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2410" y="590910"/>
            <a:ext cx="1599840" cy="159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87FB3F-99F2-DB04-54B9-B81EE0E6CA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576"/>
            <a:ext cx="4610100" cy="26575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BB49ED-D497-CD6A-E031-9356B2C0D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365" y="3181346"/>
            <a:ext cx="1703311" cy="1295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211899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</a:t>
            </a:r>
            <a:r>
              <a:rPr sz="1400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619250" y="3333251"/>
            <a:ext cx="1452751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4994DC6-164F-834C-455C-0899DDB19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07615"/>
            <a:ext cx="4608066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OCR &amp; Denial Parsing (Auditor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denial and policy PDFs into structured text. Extract procedure codes, denial reasons, and relevant policy clauses into JSON.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Evidence Retrieval (Clinician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targeted PubMed queries based on diagnosis and procedure context. Retrieve, verify, and rank peer-reviewed evidence supporting medical necessity.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Legal Reasoning (Regulatory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denial characteristics against applicable federal and state statutes. Identify policy–law conflicts and construct structured legal arguments.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Appeal Drafting (Barrister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 medical evidence and legal reasoning into a formal appeal letter. Ensure all claims are source-backed and professionally formatted.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— QA Validation (Judge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 evaluate clinical, legal, and structural integrity. Score the appeal and issue an approval or revision recommendation.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A29B-356E-FB8E-3C8D-0CD4BFDB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84F203-7027-F2C2-9914-237BFEE29F49}"/>
              </a:ext>
            </a:extLst>
          </p:cNvPr>
          <p:cNvSpPr/>
          <p:nvPr/>
        </p:nvSpPr>
        <p:spPr>
          <a:xfrm>
            <a:off x="-128" y="-4206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Technology Used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7CC29A0-60D8-DCA7-FCFC-68BA48364ADA}"/>
              </a:ext>
            </a:extLst>
          </p:cNvPr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57461E-05BD-1C32-BB97-7FC193BC441E}"/>
                </a:ext>
              </a:extLst>
            </p:cNvPr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28B787E-7FBE-7472-9229-2824B90264F2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DE7EDDD-C632-E267-6B01-FDD4CF33AE4D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B249FD6-BCB8-C9D6-27CD-ED103366C4E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A220249-A726-EABD-0593-54AB3EA550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619250" y="3333251"/>
            <a:ext cx="1452751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7ECA4EF-0C5B-2B93-616F-4F130CB9DAC1}"/>
              </a:ext>
            </a:extLst>
          </p:cNvPr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BE42105-A549-176C-FBCE-B7CB23A0B72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C22AF69-EBA9-3F43-70F5-66084C5B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64645"/>
            <a:ext cx="2541269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LLMs: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 2.5 Flash (primary reasoning &amp; QA) | Ollama Llama 3.2 (fallback) | Auto Function Calling | PubMed / NCBI API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Stack: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3.10+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pdfplumber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pytesseract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| Vite | Axios (API integration) | Tailwind CSS | Component-based UI architecture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Storage: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checkpoints | PostgreSQL +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PLpgSQL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Structured schemas | Session tracking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Deployment: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| PowerShell/Batch automation | JS CLI utilities | Modular architecture | .env config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3DD6F0-962B-B024-AAF4-9D2F4E4F21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14" y="326469"/>
            <a:ext cx="2007135" cy="299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4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894" y="45465"/>
            <a:ext cx="119443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Dataset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8" name="object 8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536065" y="3333251"/>
            <a:ext cx="1535936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/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/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12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</a:t>
            </a:r>
            <a:r>
              <a:rPr lang="en-IN" spc="-25" dirty="0"/>
              <a:t>4</a:t>
            </a:r>
            <a:endParaRPr spc="-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83577-BC09-CB7B-018E-2EC742C922E7}"/>
              </a:ext>
            </a:extLst>
          </p:cNvPr>
          <p:cNvSpPr txBox="1"/>
          <p:nvPr/>
        </p:nvSpPr>
        <p:spPr>
          <a:xfrm>
            <a:off x="0" y="416890"/>
            <a:ext cx="4591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Primary Inputs</a:t>
            </a:r>
            <a:br>
              <a:rPr lang="en-IN" sz="1000" dirty="0"/>
            </a:br>
            <a:r>
              <a:rPr lang="en-IN" sz="1000" dirty="0"/>
              <a:t>• Denial Letter PDFs (ICD, CPT, denial codes, insurer rationale)</a:t>
            </a:r>
            <a:br>
              <a:rPr lang="en-IN" sz="1000" dirty="0"/>
            </a:br>
            <a:r>
              <a:rPr lang="en-IN" sz="1000" dirty="0"/>
              <a:t>• Insurance Policy PDFs (coverage clauses, exclusions, plan details)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External Sources</a:t>
            </a:r>
            <a:br>
              <a:rPr lang="en-IN" sz="1000" dirty="0"/>
            </a:br>
            <a:r>
              <a:rPr lang="en-IN" sz="1000" dirty="0"/>
              <a:t>• PubMed / NCBI API (peer-reviewed medical evidence)</a:t>
            </a:r>
            <a:br>
              <a:rPr lang="en-IN" sz="1000" dirty="0"/>
            </a:br>
            <a:r>
              <a:rPr lang="en-IN" sz="1000" dirty="0"/>
              <a:t>• Federal &amp; State Laws (ACA, ERISA, MHPAEA, state mandates)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Pipeline-Generated Data</a:t>
            </a:r>
            <a:br>
              <a:rPr lang="en-IN" sz="1000" dirty="0"/>
            </a:br>
            <a:r>
              <a:rPr lang="en-IN" sz="1000" dirty="0"/>
              <a:t>• </a:t>
            </a:r>
            <a:r>
              <a:rPr lang="en-IN" sz="1000" dirty="0" err="1"/>
              <a:t>DenialObject</a:t>
            </a:r>
            <a:r>
              <a:rPr lang="en-IN" sz="1000" dirty="0"/>
              <a:t> | </a:t>
            </a:r>
            <a:r>
              <a:rPr lang="en-IN" sz="1000" dirty="0" err="1"/>
              <a:t>EvidenceDossier</a:t>
            </a:r>
            <a:r>
              <a:rPr lang="en-IN" sz="1000" dirty="0"/>
              <a:t> | </a:t>
            </a:r>
            <a:r>
              <a:rPr lang="en-IN" sz="1000" dirty="0" err="1"/>
              <a:t>LegalBrief</a:t>
            </a:r>
            <a:r>
              <a:rPr lang="en-IN" sz="1000" dirty="0"/>
              <a:t> | QA Scorecard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Storage &amp; Handling</a:t>
            </a:r>
            <a:br>
              <a:rPr lang="en-IN" sz="1000" dirty="0"/>
            </a:br>
            <a:r>
              <a:rPr lang="en-IN" sz="1000" dirty="0"/>
              <a:t>• Structured JSON schemas | Session checkpoints (JSON/PostgreSQL)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Preprocessing</a:t>
            </a:r>
            <a:br>
              <a:rPr lang="en-IN" sz="1000" dirty="0"/>
            </a:br>
            <a:r>
              <a:rPr lang="en-IN" sz="1000" dirty="0"/>
              <a:t>• OCR + PDF parsing | Regex code extraction | LLM query generation | Statute matching | Schema validation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IN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1" name="object 11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536065" y="3333251"/>
            <a:ext cx="1535936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Radiotherapy Risk Prediction</a:t>
            </a:r>
            <a:endParaRPr lang="en-US" spc="-10" dirty="0"/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13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</a:t>
            </a:r>
            <a:r>
              <a:rPr lang="en-IN" spc="-25" dirty="0"/>
              <a:t>4</a:t>
            </a:r>
            <a:endParaRPr spc="-25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418" y="461228"/>
            <a:ext cx="4476432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AdvocAI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production-aligned, fully engineered multi-agent system — not a prototype.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demonstrates how AI can autonomously handle complex, high-stakes workflows across medicine and law.</a:t>
            </a:r>
          </a:p>
          <a:p>
            <a:pPr algn="l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Automation: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raw denial PDF to submission-ready appeal — fully autonomous.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medical claim backed by real-time PubMed literature.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Legally Grounded: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Cites ACA, ERISA, MHPAEA, and state mandates.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Self-Validating: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Judge Agent scores outputs and blocks unsupported claims.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Fault-tolerant architecture with LLM fallback and modular design.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 Good: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Expands access to expert-grade appeal support.</a:t>
            </a:r>
          </a:p>
          <a:p>
            <a:pPr algn="l"/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Closing:</a:t>
            </a:r>
          </a:p>
          <a:p>
            <a:pPr algn="l"/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AdvocAI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medicine, law, and AI into a single intelligent system — built not just to automate, but to equalize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1381</Words>
  <Application>Microsoft Office PowerPoint</Application>
  <PresentationFormat>Custom</PresentationFormat>
  <Paragraphs>146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Microsoft Sans Serif</vt:lpstr>
      <vt:lpstr>Times New Roman</vt:lpstr>
      <vt:lpstr>Office Theme</vt:lpstr>
      <vt:lpstr>“Autonomous Health Insurance Appeal System”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</dc:creator>
  <cp:lastModifiedBy>Viraj Jadhao</cp:lastModifiedBy>
  <cp:revision>58</cp:revision>
  <dcterms:created xsi:type="dcterms:W3CDTF">2025-01-22T09:54:58Z</dcterms:created>
  <dcterms:modified xsi:type="dcterms:W3CDTF">2026-02-25T09:02:58Z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2025-01-22T00:00:00Z</vt:filetime>
  </property>
  <property fmtid="{D5CDD505-2E9C-101B-9397-08002B2CF9AE}" pid="5" name="Producer">
    <vt:lpwstr>Microsoft® PowerPoint® 2010</vt:lpwstr>
  </property>
</Properties>
</file>